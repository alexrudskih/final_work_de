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72" r:id="rId9"/>
    <p:sldId id="274" r:id="rId10"/>
    <p:sldId id="273" r:id="rId11"/>
    <p:sldId id="275" r:id="rId12"/>
    <p:sldId id="261" r:id="rId13"/>
    <p:sldId id="262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9EC4"/>
    <a:srgbClr val="F8F8FA"/>
    <a:srgbClr val="2EA2C9"/>
    <a:srgbClr val="FCFCFE"/>
    <a:srgbClr val="FDFCFA"/>
    <a:srgbClr val="FAFAFC"/>
    <a:srgbClr val="6B26DB"/>
    <a:srgbClr val="030540"/>
    <a:srgbClr val="1E645A"/>
    <a:srgbClr val="EE4C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Средний стиль 1 — акцент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E171933-4619-4E11-9A3F-F7608DF75F80}" styleName="Средний стиль 1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93D81CF-94F2-401A-BA57-92F5A7B2D0C5}" styleName="Средний стиль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0A1B5D5-9B99-4C35-A422-299274C87663}" styleName="Средний стиль 1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1098" y="9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DF3267-1025-8F97-84C7-6D6F1B26E8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622" y="755282"/>
            <a:ext cx="7395349" cy="1450537"/>
          </a:xfrm>
        </p:spPr>
        <p:txBody>
          <a:bodyPr anchor="ctr"/>
          <a:lstStyle>
            <a:lvl1pPr algn="ctr">
              <a:defRPr sz="60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66868-B6E3-0C7F-2F98-44ABA83AC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0DF8AF8-FDE2-410C-8D85-3FB48DA88970}" type="datetimeFigureOut">
              <a:rPr lang="ru-RU" smtClean="0"/>
              <a:pPr/>
              <a:t>17.06.2026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18A31D-2EA7-2D07-4E55-942D8EA02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91F7A-BA25-9C40-5147-632CDA975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64C9140-A1CC-4337-801E-1631F84DA6C8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9DCCD8-336F-5B6E-3D7A-C197ADC4E5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6622" y="2298416"/>
            <a:ext cx="7395349" cy="950967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55749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37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90B68-8F96-411F-AAE8-9EEC655B9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933" y="136525"/>
            <a:ext cx="10190495" cy="1325563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B2A2F1-E7B1-7893-5A19-AD14132A48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561" y="1713186"/>
            <a:ext cx="10187867" cy="44458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DC211-E2B1-0E8A-9CDA-F7BF249D0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20DF8AF8-FDE2-410C-8D85-3FB48DA88970}" type="datetimeFigureOut">
              <a:rPr lang="ru-RU" smtClean="0"/>
              <a:pPr/>
              <a:t>17.06.2026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0AE10-595B-BA4F-757F-0D952E496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D7ECD9-62AD-2ED3-0DE8-5C33549B3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64C9140-A1CC-4337-801E-1631F84DA6C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3408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3C622-07CE-1784-8746-BAEE04C6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60F502-C499-4611-3F82-6450B1736C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A7542D-213D-02E1-AF6C-9E29A8C04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F8AF8-FDE2-410C-8D85-3FB48DA88970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8D7B38-E6A4-7E3C-B690-CBC6DD3B6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B6065C-AD2A-D8F0-1E2D-D2CD813C1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C9140-A1CC-4337-801E-1631F84DA6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5120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F2446-78F4-64D9-3BCE-B9B91273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A39EB-795F-5834-CDD8-29B155F003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0D5F12-8ED9-32B4-BB3B-3E01DD801A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FE1BD5-5603-A051-14D1-A7C4B24EE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F8AF8-FDE2-410C-8D85-3FB48DA88970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7FE315-FA80-84A9-E1B9-8416AA271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26ED5-2606-B40D-F5E5-77149B7CE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C9140-A1CC-4337-801E-1631F84DA6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0675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81981-2075-0694-7437-B911A70A2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ACD91A-0078-E00B-DD0A-4AC86EE9F3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6177F6-3FB6-7F47-4026-151E329E5C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AAFA44-ED3A-4C88-36DE-546D666C87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2EF0E0-4204-8A2D-788E-8A68A484D5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AF9F21-2C53-54FC-954A-28888E028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F8AF8-FDE2-410C-8D85-3FB48DA88970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F40D8F-3FF1-B013-9E23-0F5CCA6B93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1B5BFD-34E4-920A-D0E3-75F10FB14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C9140-A1CC-4337-801E-1631F84DA6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5024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EDA88-B122-214E-B5E0-E3180B2C6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2150FF-7599-CC84-9385-2CE339615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F8AF8-FDE2-410C-8D85-3FB48DA88970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DBD902-BE9F-D468-C220-5A6EE2436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B1DB4D-98BF-AEC3-954C-FFA431383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C9140-A1CC-4337-801E-1631F84DA6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7705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25A582-B8F3-D896-3894-4126EE55E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F8AF8-FDE2-410C-8D85-3FB48DA88970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4BD34A-A509-1A8E-7751-54B78A86C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9B74E2-6255-3BF7-E53A-CF19F0BB5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C9140-A1CC-4337-801E-1631F84DA6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9209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64AF3-E71C-F0BC-1964-F4E4F97F2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B0028-AA70-4D34-B623-DCA42E476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25CAC5-73A4-6A14-2862-26B2F34F28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9F47A-338A-F9B4-C5BC-E36C58807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F8AF8-FDE2-410C-8D85-3FB48DA88970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46B6B3-E169-2693-1A50-7F8EF0E80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D5CC7-2DD3-61E1-014C-07FA38105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C9140-A1CC-4337-801E-1631F84DA6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836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03ECE-CB5B-3F96-328B-747AA9D51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4E46DD8-16C2-0AB0-7CDB-92680FFCF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8036F4-98F8-A308-233D-A211459D9A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C9AFC1-D75B-EA63-8936-6E709A93A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F8AF8-FDE2-410C-8D85-3FB48DA88970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798E78-E48C-49E2-1978-305BC5E97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284CEC-2C05-0F62-428F-0939AE6F0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C9140-A1CC-4337-801E-1631F84DA6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0517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0B172-37AB-9C92-E2CC-164192D1A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99AD25-74B4-0B23-D1B7-4CBC09AF66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ABB94A-F3EB-BFBF-0786-30CF40209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F8AF8-FDE2-410C-8D85-3FB48DA88970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AD872-9F34-8E29-3901-E7F41D582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252B0-F413-AEE1-65A4-72BC80A52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C9140-A1CC-4337-801E-1631F84DA6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0758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0364E3-DEFE-384E-874E-CFE6BAB5B2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B3B02D-7CF6-A0EA-23CD-25518099C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58812-845A-DBCA-0E6E-58A42D9FA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DF8AF8-FDE2-410C-8D85-3FB48DA88970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CA56FF-DD40-2CB9-0030-B9FBA70F3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D17E0-69B1-A6AD-2312-C86F36570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4C9140-A1CC-4337-801E-1631F84DA6C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2790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hyperlink" Target="https://presentation-creation.ru/" TargetMode="Externa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135E0D-0038-412F-7A8E-40CEC6373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FABF78-79CA-46B4-C1B2-3891D2DC15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C76DF-8B83-4025-02A8-3BE948E657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DF8AF8-FDE2-410C-8D85-3FB48DA88970}" type="datetimeFigureOut">
              <a:rPr lang="ru-RU" smtClean="0"/>
              <a:t>17.06.2026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5384C-6B6C-EDC3-46C0-9BFB44D79B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CD001-6171-B71F-A678-1D1A06DAF0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4C9140-A1CC-4337-801E-1631F84DA6C8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>
            <a:hlinkClick r:id="rId13"/>
            <a:extLst>
              <a:ext uri="{FF2B5EF4-FFF2-40B4-BE49-F238E27FC236}">
                <a16:creationId xmlns:a16="http://schemas.microsoft.com/office/drawing/2014/main" id="{897A19B5-97F5-4E9A-1613-D5654B987D4E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98350" y="270144"/>
            <a:ext cx="757762" cy="7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592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lexrudskih/Final_work_de/blob/main/data_quality_check.sq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AACC2-987C-EC31-7079-F1BA92032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6622" y="755282"/>
            <a:ext cx="9036389" cy="1450537"/>
          </a:xfrm>
        </p:spPr>
        <p:txBody>
          <a:bodyPr>
            <a:normAutofit fontScale="90000"/>
          </a:bodyPr>
          <a:lstStyle/>
          <a:p>
            <a:pPr algn="l"/>
            <a:r>
              <a:rPr lang="ru-RU" b="1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Дипломный проект 	     "Дата-инженер для ПРО"</a:t>
            </a:r>
          </a:p>
        </p:txBody>
      </p:sp>
      <p:sp>
        <p:nvSpPr>
          <p:cNvPr id="4" name="Подзаголовок 3">
            <a:extLst>
              <a:ext uri="{FF2B5EF4-FFF2-40B4-BE49-F238E27FC236}">
                <a16:creationId xmlns:a16="http://schemas.microsoft.com/office/drawing/2014/main" id="{49921D95-9F51-41E1-AD07-1F9B2FEB1E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l"/>
            <a:r>
              <a:rPr lang="ru-RU" dirty="0"/>
              <a:t>Рудских Александр</a:t>
            </a:r>
            <a:endParaRPr lang="en-US" dirty="0"/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95299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ABF54-EE4A-0FE5-D74E-6B5A7D21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данных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782BD-1D0D-29BE-0C71-6A5FBE941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l">
              <a:buNone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Первичный анализ данных по продажам произведен при помощи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Pandas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. Изучена структура данных, выявлено что в данных нет дубликатов в первичном ключе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Invoice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 ID. Выявлены столбцы для слоя NDS, данные из которых станут основой для таблиц-справочников: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Уникальные города и филиалы →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nds.locations</a:t>
            </a:r>
            <a:endParaRPr lang="ru-RU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Уникальные типы клиентов →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nds.customer_types</a:t>
            </a:r>
            <a:endParaRPr lang="ru-RU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Уникальные линейки продуктов →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nds.products</a:t>
            </a:r>
            <a:endParaRPr lang="ru-RU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Уникальные способы оплаты →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nds.payment_types</a:t>
            </a:r>
            <a:endParaRPr lang="ru-RU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Таблица фактов продажи →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nds.sales</a:t>
            </a:r>
            <a:endParaRPr lang="ru-RU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1999234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ABF54-EE4A-0FE5-D74E-6B5A7D21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данных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782BD-1D0D-29BE-0C71-6A5FBE941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l">
              <a:buNone/>
            </a:pPr>
            <a:endParaRPr lang="ru-RU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E88CF0B-65FE-4C4E-9D38-6A98C66F36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33" y="1462088"/>
            <a:ext cx="10296525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485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ABF54-EE4A-0FE5-D74E-6B5A7D21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БД и схем (</a:t>
            </a:r>
            <a:r>
              <a:rPr lang="en-US" dirty="0"/>
              <a:t>PostgreSQL)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782BD-1D0D-29BE-0C71-6A5FBE941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Mona Sans VF"/>
              </a:rPr>
              <a:t>Н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а стороне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PostgreSQL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 создана База данных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final_work_de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, схема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nds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, таблицы справочников и таблица фактов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nds.sales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.</a:t>
            </a:r>
          </a:p>
          <a:p>
            <a:pPr algn="l"/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Создана схема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dds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 и таблица фактов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dds.sales_fact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.</a:t>
            </a:r>
          </a:p>
          <a:p>
            <a:pPr algn="l"/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Также создана таблица для размещения результатов запуска проверок качества данных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nds.dq_result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.</a:t>
            </a:r>
          </a:p>
          <a:p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создан пользователь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python_user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, которому предоставлены права к созданным объектам.</a:t>
            </a:r>
          </a:p>
          <a:p>
            <a:pPr algn="l"/>
            <a:endParaRPr lang="ru-RU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07979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ABF54-EE4A-0FE5-D74E-6B5A7D21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БД и схем (</a:t>
            </a:r>
            <a:r>
              <a:rPr lang="en-US" dirty="0"/>
              <a:t>PostgreSQL)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B782BD-1D0D-29BE-0C71-6A5FBE941E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pPr lvl="5"/>
            <a:r>
              <a:rPr lang="en-US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NDS</a:t>
            </a:r>
          </a:p>
          <a:p>
            <a:pPr lvl="3"/>
            <a:endParaRPr lang="en-US" dirty="0">
              <a:solidFill>
                <a:schemeClr val="tx2">
                  <a:lumMod val="75000"/>
                </a:schemeClr>
              </a:solidFill>
              <a:latin typeface="Mona Sans VF"/>
            </a:endParaRPr>
          </a:p>
          <a:p>
            <a:pPr lvl="3"/>
            <a:endParaRPr lang="en-US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  <a:p>
            <a:pPr lvl="3"/>
            <a:endParaRPr lang="en-US" dirty="0">
              <a:solidFill>
                <a:schemeClr val="tx2">
                  <a:lumMod val="75000"/>
                </a:schemeClr>
              </a:solidFill>
              <a:latin typeface="Mona Sans VF"/>
            </a:endParaRPr>
          </a:p>
          <a:p>
            <a:pPr lvl="3"/>
            <a:endParaRPr lang="en-US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  <a:p>
            <a:pPr lvl="3"/>
            <a:endParaRPr lang="en-US" dirty="0">
              <a:solidFill>
                <a:schemeClr val="tx2">
                  <a:lumMod val="75000"/>
                </a:schemeClr>
              </a:solidFill>
              <a:latin typeface="Mona Sans VF"/>
            </a:endParaRPr>
          </a:p>
          <a:p>
            <a:pPr lvl="3"/>
            <a:endParaRPr lang="en-US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  <a:p>
            <a:pPr lvl="3"/>
            <a:endParaRPr lang="en-US" dirty="0">
              <a:solidFill>
                <a:schemeClr val="tx2">
                  <a:lumMod val="75000"/>
                </a:schemeClr>
              </a:solidFill>
              <a:latin typeface="Mona Sans VF"/>
            </a:endParaRPr>
          </a:p>
          <a:p>
            <a:pPr lvl="3"/>
            <a:endParaRPr lang="en-US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  <a:p>
            <a:pPr lvl="3"/>
            <a:endParaRPr lang="en-US" dirty="0">
              <a:solidFill>
                <a:schemeClr val="tx2">
                  <a:lumMod val="75000"/>
                </a:schemeClr>
              </a:solidFill>
              <a:latin typeface="Mona Sans VF"/>
            </a:endParaRPr>
          </a:p>
          <a:p>
            <a:pPr lvl="3"/>
            <a:endParaRPr lang="en-US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  <a:p>
            <a:pPr lvl="3"/>
            <a:endParaRPr lang="en-US" dirty="0">
              <a:solidFill>
                <a:schemeClr val="tx2">
                  <a:lumMod val="75000"/>
                </a:schemeClr>
              </a:solidFill>
              <a:latin typeface="Mona Sans VF"/>
            </a:endParaRPr>
          </a:p>
          <a:p>
            <a:pPr lvl="3"/>
            <a:endParaRPr lang="en-US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  <a:p>
            <a:pPr lvl="3"/>
            <a:endParaRPr lang="en-US" dirty="0">
              <a:solidFill>
                <a:schemeClr val="tx2">
                  <a:lumMod val="75000"/>
                </a:schemeClr>
              </a:solidFill>
              <a:latin typeface="Mona Sans VF"/>
            </a:endParaRPr>
          </a:p>
          <a:p>
            <a:pPr lvl="6"/>
            <a:r>
              <a:rPr lang="en-US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DDS</a:t>
            </a:r>
            <a:endParaRPr lang="ru-RU" b="0" i="0" dirty="0">
              <a:solidFill>
                <a:schemeClr val="tx2">
                  <a:lumMod val="75000"/>
                </a:schemeClr>
              </a:solidFill>
              <a:effectLst/>
              <a:latin typeface="Mona Sans VF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6068A95-B093-4F4D-A5DA-8ABA41425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085" y="2286788"/>
            <a:ext cx="5858693" cy="415348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755957D-1F8C-472E-9F9D-21E5E87AC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6786" y="2282205"/>
            <a:ext cx="1495634" cy="443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679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ABF54-EE4A-0FE5-D74E-6B5A7D21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Заполнение таблиц слоя </a:t>
            </a:r>
            <a:r>
              <a:rPr lang="en-US" dirty="0"/>
              <a:t>NDS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08063C7-201A-4842-A2D3-62556E0B87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8224" y="1712913"/>
            <a:ext cx="9204927" cy="4446587"/>
          </a:xfrm>
        </p:spPr>
      </p:pic>
    </p:spTree>
    <p:extLst>
      <p:ext uri="{BB962C8B-B14F-4D97-AF65-F5344CB8AC3E}">
        <p14:creationId xmlns:p14="http://schemas.microsoft.com/office/powerpoint/2010/main" val="476540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ABF54-EE4A-0FE5-D74E-6B5A7D21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Заполнение таблиц слоя </a:t>
            </a:r>
            <a:r>
              <a:rPr lang="en-US" dirty="0"/>
              <a:t>DDS</a:t>
            </a:r>
            <a:endParaRPr lang="ru-RU" dirty="0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79E6237-041B-4562-9B29-00191700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5E52AA08-C753-4B5E-908F-C430785D3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5493" y="1239598"/>
            <a:ext cx="6554115" cy="4972744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DA6DFD2-B1AD-49EE-ADBC-D818543BE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92" y="2514600"/>
            <a:ext cx="501015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292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ABF54-EE4A-0FE5-D74E-6B5A7D21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качества данных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79E6237-041B-4562-9B29-00191700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algn="l"/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Проверка качества данных осуществлена с помощью готового скрипта с набором проверок </a:t>
            </a:r>
            <a:r>
              <a:rPr lang="ru-RU" b="0" i="0" u="sng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data_quality_check.sql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. Каждая проверка по результатам запуска создает 2 типа строк:</a:t>
            </a:r>
          </a:p>
          <a:p>
            <a:pPr marL="0" indent="0" algn="l">
              <a:buNone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T - содержит информацию об общем количестве проверенных строк, количестве ошибочных строк и уровне качества данных, который определяется следующим образом - 1-(</a:t>
            </a:r>
            <a:r>
              <a:rPr lang="ru-RU" b="0" i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кол-во ошибочных 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строк)/(кол-во проверенных строк). Получаем долю верных данных.</a:t>
            </a:r>
          </a:p>
          <a:p>
            <a:pPr marL="0" indent="0" algn="l">
              <a:buNone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R - сами ошибочные строки.</a:t>
            </a:r>
          </a:p>
          <a:p>
            <a:pPr algn="l"/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Для строк R основной атрибут это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invoice_id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, также зарезервированы поля для дополнительных данных kv1, kv2, kv3 и kv4, в которые можно размещать дополнительные атрибуты.</a:t>
            </a:r>
          </a:p>
          <a:p>
            <a:pPr algn="l"/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В каждой строке заполняется поле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date_check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 с указанием момента запуска проверки.</a:t>
            </a:r>
          </a:p>
          <a:p>
            <a:endParaRPr lang="ru-RU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051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ABF54-EE4A-0FE5-D74E-6B5A7D21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качества данных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79E6237-041B-4562-9B29-00191700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82E3FE1-25FD-482E-9B56-B7E1A1C6B0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155" y="1126703"/>
            <a:ext cx="6273627" cy="564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211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ABF54-EE4A-0FE5-D74E-6B5A7D21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качества данных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79E6237-041B-4562-9B29-001917008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Для примера изменена проверка DQ_2 таким образом, чтоб она давала срабатывания. Условно она считает, что рейтинг больше 9 является не корректным.</a:t>
            </a:r>
            <a:endParaRPr lang="ru-RU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B8FFEE5-7F36-4762-8FF9-94C9CDA566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939" y="3095459"/>
            <a:ext cx="11239500" cy="3314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840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ABF54-EE4A-0FE5-D74E-6B5A7D211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(Power BI)</a:t>
            </a:r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3B26094D-95A8-4189-BC6C-A42B28FBE5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2244" y="1220548"/>
            <a:ext cx="8996856" cy="5069046"/>
          </a:xfrm>
        </p:spPr>
      </p:pic>
    </p:spTree>
    <p:extLst>
      <p:ext uri="{BB962C8B-B14F-4D97-AF65-F5344CB8AC3E}">
        <p14:creationId xmlns:p14="http://schemas.microsoft.com/office/powerpoint/2010/main" val="2912353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AEEA4-E604-4AE4-79AF-B005D9809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AE947-E493-AC52-E5FF-AA7F3CC4F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В рамках выполнения работы была проведена комплексная работа с данными: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данными были изучены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подготовлены к загрузке в базу данных (создание таблиц фактов и справочников)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сформированы проверки качества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данные были перемещены на слой для формирования отчетности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подготовлен </a:t>
            </a:r>
            <a:r>
              <a:rPr lang="ru-RU" b="0" i="0" dirty="0" err="1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дашборд</a:t>
            </a:r>
            <a:r>
              <a:rPr lang="ru-RU" b="0" i="0" dirty="0">
                <a:solidFill>
                  <a:schemeClr val="tx2">
                    <a:lumMod val="75000"/>
                  </a:schemeClr>
                </a:solidFill>
                <a:effectLst/>
                <a:latin typeface="Mona Sans VF"/>
              </a:rPr>
              <a:t> для визуализации данных</a:t>
            </a:r>
          </a:p>
          <a:p>
            <a:pPr marL="0" indent="0">
              <a:buNone/>
            </a:pPr>
            <a:endParaRPr lang="ru-RU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4545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9">
            <a:extLst>
              <a:ext uri="{FF2B5EF4-FFF2-40B4-BE49-F238E27FC236}">
                <a16:creationId xmlns:a16="http://schemas.microsoft.com/office/drawing/2014/main" id="{CF524301-0F29-8713-43B3-29D2BC0D466D}"/>
              </a:ext>
            </a:extLst>
          </p:cNvPr>
          <p:cNvSpPr txBox="1">
            <a:spLocks/>
          </p:cNvSpPr>
          <p:nvPr/>
        </p:nvSpPr>
        <p:spPr>
          <a:xfrm>
            <a:off x="2789383" y="3018133"/>
            <a:ext cx="6613234" cy="1150267"/>
          </a:xfrm>
          <a:prstGeom prst="rect">
            <a:avLst/>
          </a:prstGeom>
          <a:effectLst/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7200" b="1" dirty="0"/>
              <a:t>СПАСИБО</a:t>
            </a:r>
          </a:p>
        </p:txBody>
      </p:sp>
    </p:spTree>
    <p:extLst>
      <p:ext uri="{BB962C8B-B14F-4D97-AF65-F5344CB8AC3E}">
        <p14:creationId xmlns:p14="http://schemas.microsoft.com/office/powerpoint/2010/main" val="2709158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Теплый синий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1058</TotalTime>
  <Words>389</Words>
  <Application>Microsoft Office PowerPoint</Application>
  <PresentationFormat>Широкоэкранный</PresentationFormat>
  <Paragraphs>51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Mona Sans VF</vt:lpstr>
      <vt:lpstr>Office Theme</vt:lpstr>
      <vt:lpstr>Дипломный проект       "Дата-инженер для ПРО"</vt:lpstr>
      <vt:lpstr>Анализ данных</vt:lpstr>
      <vt:lpstr>Анализ данных</vt:lpstr>
      <vt:lpstr>Создание БД и схем (PostgreSQL)</vt:lpstr>
      <vt:lpstr>Создание БД и схем (PostgreSQL)</vt:lpstr>
      <vt:lpstr>Заполнение таблиц слоя NDS</vt:lpstr>
      <vt:lpstr>Заполнение таблиц слоя DDS</vt:lpstr>
      <vt:lpstr>Проверка качества данных</vt:lpstr>
      <vt:lpstr>Проверка качества данных</vt:lpstr>
      <vt:lpstr>Проверка качества данных</vt:lpstr>
      <vt:lpstr>Dashboard (Power BI)</vt:lpstr>
      <vt:lpstr>Вывод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Кибер абстракция, шаблон презентации с сайта presentation-creation.ru</dc:title>
  <dc:creator>User Obstinate</dc:creator>
  <cp:lastModifiedBy>Александр Рудских</cp:lastModifiedBy>
  <cp:revision>79</cp:revision>
  <dcterms:created xsi:type="dcterms:W3CDTF">2023-08-23T11:31:43Z</dcterms:created>
  <dcterms:modified xsi:type="dcterms:W3CDTF">2026-06-17T08:13:48Z</dcterms:modified>
</cp:coreProperties>
</file>